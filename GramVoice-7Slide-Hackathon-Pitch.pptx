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AF3E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AF3E8"/>
                </a:solidFill>
                <a:latin typeface="Arial"/>
              </a:rPr>
              <a:t>Seller Growth Forecast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Sellers (projected)</c:v>
                </c:pt>
              </c:strCache>
            </c:strRef>
          </c:tx>
          <c:spPr>
            <a:solidFill>
              <a:srgbClr val="E8A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M4</c:v>
                  </c:pt>
                  <c:pt idx="1">
                    <c:v>M8</c:v>
                  </c:pt>
                  <c:pt idx="2">
                    <c:v>Yr 1</c:v>
                  </c:pt>
                  <c:pt idx="3">
                    <c:v>Yr 2</c:v>
                  </c:pt>
                  <c:pt idx="4">
                    <c:v>Yr 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500</c:v>
                </c:pt>
                <c:pt idx="2">
                  <c:v>5000</c:v>
                </c:pt>
                <c:pt idx="3">
                  <c:v>50000</c:v>
                </c:pt>
                <c:pt idx="4">
                  <c:v>200000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80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D241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80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D1B0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34840" cy="5143500"/>
          </a:xfrm>
          <a:prstGeom prst="rect">
            <a:avLst/>
          </a:prstGeom>
          <a:solidFill>
            <a:srgbClr val="2D1B0E"/>
          </a:solidFill>
          <a:ln w="12700">
            <a:solidFill>
              <a:srgbClr val="2D1B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34840" y="0"/>
            <a:ext cx="6400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1828800"/>
            <a:ext cx="4114800" cy="4114800"/>
          </a:xfrm>
          <a:prstGeom prst="ellipse">
            <a:avLst/>
          </a:prstGeom>
          <a:solidFill>
            <a:srgbClr val="E8A020">
              <a:alpha val="8000"/>
            </a:srgbClr>
          </a:solidFill>
          <a:ln w="12700">
            <a:solidFill>
              <a:srgbClr val="E8A020">
                <a:alpha val="2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-822960"/>
            <a:ext cx="2560320" cy="2560320"/>
          </a:xfrm>
          <a:prstGeom prst="ellipse">
            <a:avLst/>
          </a:prstGeom>
          <a:solidFill>
            <a:srgbClr val="E8A020">
              <a:alpha val="6000"/>
            </a:srgbClr>
          </a:solidFill>
          <a:ln w="12700">
            <a:solidFill>
              <a:srgbClr val="E8A020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48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GRAM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23957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Voice Powered Rural Business Platform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35808"/>
            <a:ext cx="3657600" cy="347472"/>
          </a:xfrm>
          <a:prstGeom prst="rect">
            <a:avLst/>
          </a:prstGeom>
          <a:solidFill>
            <a:srgbClr val="E8A020">
              <a:alpha val="18000"/>
            </a:srgbClr>
          </a:solidFill>
          <a:ln w="12700">
            <a:solidFill>
              <a:srgbClr val="E8A020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358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5C842"/>
                </a:solidFill>
              </a:rPr>
              <a:t>HACKATHON SUBMISSION · RURAL TECH 2025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8280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Team GramVoice  ·  Slide 1 of 7</a:t>
            </a:r>
            <a:endParaRPr lang="en-US" sz="9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502920"/>
            <a:ext cx="658368" cy="6583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846320" y="129844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846320" y="17830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 million rural Indians produce quality goods but sell at rock-bottom prices — because they have no branding, no digital tools, no logistics, and no market access.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846320" y="2999232"/>
            <a:ext cx="1280160" cy="1810512"/>
          </a:xfrm>
          <a:prstGeom prst="rect">
            <a:avLst/>
          </a:prstGeom>
          <a:solidFill>
            <a:srgbClr val="3D2410"/>
          </a:solidFill>
          <a:ln w="12700">
            <a:solidFill>
              <a:srgbClr val="E8A020">
                <a:alpha val="3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46320" y="2999232"/>
            <a:ext cx="128016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0" y="3072384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4846320" y="3749040"/>
            <a:ext cx="1280160" cy="841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via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middlemen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45352" y="2999232"/>
            <a:ext cx="1280160" cy="1810512"/>
          </a:xfrm>
          <a:prstGeom prst="rect">
            <a:avLst/>
          </a:prstGeom>
          <a:solidFill>
            <a:srgbClr val="3D2410"/>
          </a:solidFill>
          <a:ln w="12700">
            <a:solidFill>
              <a:srgbClr val="E8A020">
                <a:alpha val="3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45352" y="2999232"/>
            <a:ext cx="128016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45352" y="3072384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6245352" y="3749040"/>
            <a:ext cx="1280160" cy="841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gap: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vs city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644384" y="2999232"/>
            <a:ext cx="1280160" cy="1810512"/>
          </a:xfrm>
          <a:prstGeom prst="rect">
            <a:avLst/>
          </a:prstGeom>
          <a:solidFill>
            <a:srgbClr val="3D2410"/>
          </a:solidFill>
          <a:ln w="12700">
            <a:solidFill>
              <a:srgbClr val="E8A020">
                <a:alpha val="3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644384" y="2999232"/>
            <a:ext cx="128016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44384" y="3072384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26" name="Text 23"/>
          <p:cNvSpPr/>
          <p:nvPr/>
        </p:nvSpPr>
        <p:spPr>
          <a:xfrm>
            <a:off x="7644384" y="3749040"/>
            <a:ext cx="1280160" cy="841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built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1B0E"/>
          </a:solidFill>
          <a:ln w="12700">
            <a:solidFill>
              <a:srgbClr val="2D1B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60120"/>
          </a:xfrm>
          <a:prstGeom prst="rect">
            <a:avLst/>
          </a:prstGeom>
          <a:solidFill>
            <a:srgbClr val="2A6080"/>
          </a:solidFill>
          <a:ln w="12700">
            <a:solidFill>
              <a:srgbClr val="2A6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6080"/>
                </a:solidFill>
              </a:rPr>
              <a:t>SLIDE 02  ·  UNDERSTANDING &amp; RESEARCH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97680" y="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Tells Us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03920" y="4864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2 /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160520" cy="1792224"/>
          </a:xfrm>
          <a:prstGeom prst="rect">
            <a:avLst/>
          </a:prstGeom>
          <a:solidFill>
            <a:srgbClr val="2D1B0E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15568"/>
            <a:ext cx="54864" cy="1792224"/>
          </a:xfrm>
          <a:prstGeom prst="rect">
            <a:avLst/>
          </a:prstGeom>
          <a:solidFill>
            <a:srgbClr val="2A6080"/>
          </a:solidFill>
          <a:ln w="12700">
            <a:solidFill>
              <a:srgbClr val="2A608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9844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" y="125272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Are They?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21208" y="1801368"/>
            <a:ext cx="73152" cy="73152"/>
          </a:xfrm>
          <a:prstGeom prst="ellipse">
            <a:avLst/>
          </a:prstGeom>
          <a:solidFill>
            <a:srgbClr val="2A6080"/>
          </a:solidFill>
          <a:ln w="12700">
            <a:solidFill>
              <a:srgbClr val="2A60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17465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farmers &amp; artisans in tier-3/4 towns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1208" y="2139696"/>
            <a:ext cx="73152" cy="73152"/>
          </a:xfrm>
          <a:prstGeom prst="ellipse">
            <a:avLst/>
          </a:prstGeom>
          <a:solidFill>
            <a:srgbClr val="2A6080"/>
          </a:solidFill>
          <a:ln w="12700">
            <a:solidFill>
              <a:srgbClr val="2A60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7512" y="20848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income ₹8,000–12,000/month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21208" y="2478024"/>
            <a:ext cx="73152" cy="73152"/>
          </a:xfrm>
          <a:prstGeom prst="ellipse">
            <a:avLst/>
          </a:prstGeom>
          <a:solidFill>
            <a:srgbClr val="2A6080"/>
          </a:solidFill>
          <a:ln w="12700">
            <a:solidFill>
              <a:srgbClr val="2A60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" y="24231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use smartphones, can't type fluently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1115568"/>
            <a:ext cx="4160520" cy="1792224"/>
          </a:xfrm>
          <a:prstGeom prst="rect">
            <a:avLst/>
          </a:prstGeom>
          <a:solidFill>
            <a:srgbClr val="2D1B0E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1115568"/>
            <a:ext cx="54864" cy="1792224"/>
          </a:xfrm>
          <a:prstGeom prst="rect">
            <a:avLst/>
          </a:prstGeom>
          <a:solidFill>
            <a:srgbClr val="A03020"/>
          </a:solidFill>
          <a:ln w="12700">
            <a:solidFill>
              <a:srgbClr val="A03020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98448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13248" y="125272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Pain Points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956048" y="1801368"/>
            <a:ext cx="73152" cy="73152"/>
          </a:xfrm>
          <a:prstGeom prst="ellipse">
            <a:avLst/>
          </a:prstGeom>
          <a:solidFill>
            <a:srgbClr val="A03020"/>
          </a:solidFill>
          <a:ln w="12700">
            <a:solidFill>
              <a:srgbClr val="A0302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102352" y="17465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storefront or brand identity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956048" y="2139696"/>
            <a:ext cx="73152" cy="73152"/>
          </a:xfrm>
          <a:prstGeom prst="ellipse">
            <a:avLst/>
          </a:prstGeom>
          <a:solidFill>
            <a:srgbClr val="A03020"/>
          </a:solidFill>
          <a:ln w="12700">
            <a:solidFill>
              <a:srgbClr val="A0302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102352" y="20848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take 30–50% of selling price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956048" y="2478024"/>
            <a:ext cx="73152" cy="73152"/>
          </a:xfrm>
          <a:prstGeom prst="ellipse">
            <a:avLst/>
          </a:prstGeom>
          <a:solidFill>
            <a:srgbClr val="A03020"/>
          </a:solidFill>
          <a:ln w="12700">
            <a:solidFill>
              <a:srgbClr val="A0302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102352" y="24231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city-market prices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20040" y="3054096"/>
            <a:ext cx="4160520" cy="1792224"/>
          </a:xfrm>
          <a:prstGeom prst="rect">
            <a:avLst/>
          </a:prstGeom>
          <a:solidFill>
            <a:srgbClr val="2D1B0E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320040" y="3054096"/>
            <a:ext cx="54864" cy="1792224"/>
          </a:xfrm>
          <a:prstGeom prst="rect">
            <a:avLst/>
          </a:prstGeom>
          <a:solidFill>
            <a:srgbClr val="4E8040"/>
          </a:solidFill>
          <a:ln w="12700">
            <a:solidFill>
              <a:srgbClr val="4E8040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36976"/>
            <a:ext cx="365760" cy="3657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78408" y="319125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Research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521208" y="3739896"/>
            <a:ext cx="73152" cy="73152"/>
          </a:xfrm>
          <a:prstGeom prst="ellipse">
            <a:avLst/>
          </a:prstGeom>
          <a:solidFill>
            <a:srgbClr val="4E8040"/>
          </a:solidFill>
          <a:ln w="12700">
            <a:solidFill>
              <a:srgbClr val="4E804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67512" y="3685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e-commerce: ₹10.5L Cr by 2026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521208" y="4078224"/>
            <a:ext cx="73152" cy="73152"/>
          </a:xfrm>
          <a:prstGeom prst="ellipse">
            <a:avLst/>
          </a:prstGeom>
          <a:solidFill>
            <a:srgbClr val="4E8040"/>
          </a:solidFill>
          <a:ln w="12700">
            <a:solidFill>
              <a:srgbClr val="4E804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67512" y="40233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apps see 3× higher rural adoption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521208" y="4416552"/>
            <a:ext cx="73152" cy="73152"/>
          </a:xfrm>
          <a:prstGeom prst="ellipse">
            <a:avLst/>
          </a:prstGeom>
          <a:solidFill>
            <a:srgbClr val="4E8040"/>
          </a:solidFill>
          <a:ln w="12700">
            <a:solidFill>
              <a:srgbClr val="4E804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67512" y="43616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 sellers want digital tools but can't use them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4754880" y="3054096"/>
            <a:ext cx="4160520" cy="1792224"/>
          </a:xfrm>
          <a:prstGeom prst="rect">
            <a:avLst/>
          </a:prstGeom>
          <a:solidFill>
            <a:srgbClr val="2D1B0E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4754880" y="3054096"/>
            <a:ext cx="54864" cy="179222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36976"/>
            <a:ext cx="365760" cy="36576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413248" y="319125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Gaps</a:t>
            </a:r>
            <a:endParaRPr lang="en-US" sz="1400" dirty="0"/>
          </a:p>
        </p:txBody>
      </p:sp>
      <p:sp>
        <p:nvSpPr>
          <p:cNvPr id="41" name="Shape 35"/>
          <p:cNvSpPr/>
          <p:nvPr/>
        </p:nvSpPr>
        <p:spPr>
          <a:xfrm>
            <a:off x="4956048" y="3739896"/>
            <a:ext cx="73152" cy="7315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5102352" y="3685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Meesho/Amazon need English literacy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4956048" y="4078224"/>
            <a:ext cx="73152" cy="7315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5102352" y="40233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offers AI branding for village goods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4956048" y="4416552"/>
            <a:ext cx="73152" cy="7315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5102352" y="43616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delivery unsolved in most villages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1B0E"/>
          </a:solidFill>
          <a:ln w="12700">
            <a:solidFill>
              <a:srgbClr val="2D1B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601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A020"/>
                </a:solidFill>
              </a:rPr>
              <a:t>SLIDE 03  ·  PROPOSED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97680" y="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Integrated Modules — One Platform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03920" y="4864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3 /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1078992"/>
            <a:ext cx="1572768" cy="3822192"/>
          </a:xfrm>
          <a:prstGeom prst="rect">
            <a:avLst/>
          </a:prstGeom>
          <a:solidFill>
            <a:srgbClr val="2D1B0E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078992"/>
            <a:ext cx="1572768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261872"/>
            <a:ext cx="658368" cy="658368"/>
          </a:xfrm>
          <a:prstGeom prst="ellipse">
            <a:avLst/>
          </a:prstGeom>
          <a:solidFill>
            <a:srgbClr val="E8A020">
              <a:alpha val="20000"/>
            </a:srgbClr>
          </a:solidFill>
          <a:ln w="12700">
            <a:solidFill>
              <a:srgbClr val="E8A020">
                <a:alpha val="5000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335024"/>
            <a:ext cx="512064" cy="5120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56032" y="20299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A020"/>
                </a:solidFill>
              </a:rPr>
              <a:t>01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47472" y="2304288"/>
            <a:ext cx="1389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Listing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7472" y="3063240"/>
            <a:ext cx="1417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product in Hindi/local language. AI creates listing, suggests price, finds buyers. Zero typing required.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993392" y="1078992"/>
            <a:ext cx="1572768" cy="3822192"/>
          </a:xfrm>
          <a:prstGeom prst="rect">
            <a:avLst/>
          </a:prstGeom>
          <a:solidFill>
            <a:srgbClr val="2D1B0E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993392" y="1078992"/>
            <a:ext cx="1572768" cy="54864"/>
          </a:xfrm>
          <a:prstGeom prst="rect">
            <a:avLst/>
          </a:prstGeom>
          <a:solidFill>
            <a:srgbClr val="4E8040"/>
          </a:solidFill>
          <a:ln w="12700">
            <a:solidFill>
              <a:srgbClr val="4E804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450592" y="1261872"/>
            <a:ext cx="658368" cy="658368"/>
          </a:xfrm>
          <a:prstGeom prst="ellipse">
            <a:avLst/>
          </a:prstGeom>
          <a:solidFill>
            <a:srgbClr val="4E8040">
              <a:alpha val="20000"/>
            </a:srgbClr>
          </a:solidFill>
          <a:ln w="12700">
            <a:solidFill>
              <a:srgbClr val="4E8040">
                <a:alpha val="50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1335024"/>
            <a:ext cx="512064" cy="51206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993392" y="20299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4E8040"/>
                </a:solidFill>
              </a:rPr>
              <a:t>02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084832" y="2304288"/>
            <a:ext cx="1389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Brand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Builder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084832" y="3063240"/>
            <a:ext cx="1417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 → AI generates brand name, logo, packaging design &amp; social posts in under 10 seconds.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730752" y="1078992"/>
            <a:ext cx="1572768" cy="3822192"/>
          </a:xfrm>
          <a:prstGeom prst="rect">
            <a:avLst/>
          </a:prstGeom>
          <a:solidFill>
            <a:srgbClr val="2D1B0E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730752" y="1078992"/>
            <a:ext cx="1572768" cy="54864"/>
          </a:xfrm>
          <a:prstGeom prst="rect">
            <a:avLst/>
          </a:prstGeom>
          <a:solidFill>
            <a:srgbClr val="2A6080"/>
          </a:solidFill>
          <a:ln w="12700">
            <a:solidFill>
              <a:srgbClr val="2A608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187952" y="1261872"/>
            <a:ext cx="658368" cy="658368"/>
          </a:xfrm>
          <a:prstGeom prst="ellipse">
            <a:avLst/>
          </a:prstGeom>
          <a:solidFill>
            <a:srgbClr val="2A6080">
              <a:alpha val="20000"/>
            </a:srgbClr>
          </a:solidFill>
          <a:ln w="12700">
            <a:solidFill>
              <a:srgbClr val="2A6080">
                <a:alpha val="50000"/>
              </a:srgbClr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1335024"/>
            <a:ext cx="512064" cy="5120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730752" y="20299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A6080"/>
                </a:solidFill>
              </a:rPr>
              <a:t>03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3822192" y="2304288"/>
            <a:ext cx="1389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Delivery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3822192" y="3063240"/>
            <a:ext cx="1417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youth register as delivery agents. Orders auto-assigned by GPS proximity. Bikes or bicycles.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468112" y="1078992"/>
            <a:ext cx="1572768" cy="3822192"/>
          </a:xfrm>
          <a:prstGeom prst="rect">
            <a:avLst/>
          </a:prstGeom>
          <a:solidFill>
            <a:srgbClr val="2D1B0E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468112" y="1078992"/>
            <a:ext cx="1572768" cy="54864"/>
          </a:xfrm>
          <a:prstGeom prst="rect">
            <a:avLst/>
          </a:prstGeom>
          <a:solidFill>
            <a:srgbClr val="8040A0"/>
          </a:solidFill>
          <a:ln w="12700">
            <a:solidFill>
              <a:srgbClr val="8040A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925312" y="1261872"/>
            <a:ext cx="658368" cy="658368"/>
          </a:xfrm>
          <a:prstGeom prst="ellipse">
            <a:avLst/>
          </a:prstGeom>
          <a:solidFill>
            <a:srgbClr val="8040A0">
              <a:alpha val="20000"/>
            </a:srgbClr>
          </a:solidFill>
          <a:ln w="12700">
            <a:solidFill>
              <a:srgbClr val="8040A0">
                <a:alpha val="50000"/>
              </a:srgbClr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1335024"/>
            <a:ext cx="512064" cy="51206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468112" y="20299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040A0"/>
                </a:solidFill>
              </a:rPr>
              <a:t>04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5559552" y="2304288"/>
            <a:ext cx="1389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Village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5559552" y="3063240"/>
            <a:ext cx="1417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goes live on video — city buyers watch and buy in real time. No middlemen. 100% profit to seller.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205472" y="1078992"/>
            <a:ext cx="1572768" cy="3822192"/>
          </a:xfrm>
          <a:prstGeom prst="rect">
            <a:avLst/>
          </a:prstGeom>
          <a:solidFill>
            <a:srgbClr val="2D1B0E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7205472" y="1078992"/>
            <a:ext cx="1572768" cy="54864"/>
          </a:xfrm>
          <a:prstGeom prst="rect">
            <a:avLst/>
          </a:prstGeom>
          <a:solidFill>
            <a:srgbClr val="A03020"/>
          </a:solidFill>
          <a:ln w="12700">
            <a:solidFill>
              <a:srgbClr val="A03020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7662672" y="1261872"/>
            <a:ext cx="658368" cy="658368"/>
          </a:xfrm>
          <a:prstGeom prst="ellipse">
            <a:avLst/>
          </a:prstGeom>
          <a:solidFill>
            <a:srgbClr val="A03020">
              <a:alpha val="20000"/>
            </a:srgbClr>
          </a:solidFill>
          <a:ln w="12700">
            <a:solidFill>
              <a:srgbClr val="A03020">
                <a:alpha val="50000"/>
              </a:srgbClr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824" y="1335024"/>
            <a:ext cx="512064" cy="512064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205472" y="20299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A03020"/>
                </a:solidFill>
              </a:rPr>
              <a:t>05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7296912" y="2304288"/>
            <a:ext cx="1389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Demand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7296912" y="3063240"/>
            <a:ext cx="1417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forecasts demand spikes. Alerts: 'Turmeric +40% next month.' Villagers prep stock and sell at peak.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1B0E"/>
          </a:solidFill>
          <a:ln w="12700">
            <a:solidFill>
              <a:srgbClr val="2D1B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60120"/>
          </a:xfrm>
          <a:prstGeom prst="rect">
            <a:avLst/>
          </a:prstGeom>
          <a:solidFill>
            <a:srgbClr val="4E8040"/>
          </a:solidFill>
          <a:ln w="12700">
            <a:solidFill>
              <a:srgbClr val="4E8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E8040"/>
                </a:solidFill>
              </a:rPr>
              <a:t>SLIDE 04  ·  TECHNICAL APPROACH &amp; TECH 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97680" y="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Scalable · Offline-First · Accessible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03920" y="4864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4 / 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4114800" cy="457200"/>
          </a:xfrm>
          <a:prstGeom prst="rect">
            <a:avLst/>
          </a:prstGeom>
          <a:solidFill>
            <a:srgbClr val="2D1B0E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536192"/>
            <a:ext cx="54864" cy="4572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600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161848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 ·  Voice API  ·  Hindi NLP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066544"/>
            <a:ext cx="4114800" cy="457200"/>
          </a:xfrm>
          <a:prstGeom prst="rect">
            <a:avLst/>
          </a:prstGeom>
          <a:solidFill>
            <a:srgbClr val="2D1B0E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066544"/>
            <a:ext cx="54864" cy="457200"/>
          </a:xfrm>
          <a:prstGeom prst="rect">
            <a:avLst/>
          </a:prstGeom>
          <a:solidFill>
            <a:srgbClr val="4E8040"/>
          </a:solidFill>
          <a:ln w="12700">
            <a:solidFill>
              <a:srgbClr val="4E8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1305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/ ML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00200" y="21488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 ·  GPT-4 Vision  ·  Custom NLP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96896"/>
            <a:ext cx="4114800" cy="457200"/>
          </a:xfrm>
          <a:prstGeom prst="rect">
            <a:avLst/>
          </a:prstGeom>
          <a:solidFill>
            <a:srgbClr val="2D1B0E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596896"/>
            <a:ext cx="54864" cy="457200"/>
          </a:xfrm>
          <a:prstGeom prst="rect">
            <a:avLst/>
          </a:prstGeom>
          <a:solidFill>
            <a:srgbClr val="2A6080"/>
          </a:solidFill>
          <a:ln w="12700">
            <a:solidFill>
              <a:srgbClr val="2A6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6609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00200" y="267919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·  FastAPI  ·  WebSockets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127248"/>
            <a:ext cx="4114800" cy="457200"/>
          </a:xfrm>
          <a:prstGeom prst="rect">
            <a:avLst/>
          </a:prstGeom>
          <a:solidFill>
            <a:srgbClr val="2D1B0E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127248"/>
            <a:ext cx="54864" cy="457200"/>
          </a:xfrm>
          <a:prstGeom prst="rect">
            <a:avLst/>
          </a:prstGeom>
          <a:solidFill>
            <a:srgbClr val="8040A0"/>
          </a:solidFill>
          <a:ln w="12700">
            <a:solidFill>
              <a:srgbClr val="8040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1912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00200" y="320954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·  Firebase Realtime DB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4114800" cy="457200"/>
          </a:xfrm>
          <a:prstGeom prst="rect">
            <a:avLst/>
          </a:prstGeom>
          <a:solidFill>
            <a:srgbClr val="2D1B0E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657600"/>
            <a:ext cx="54864" cy="457200"/>
          </a:xfrm>
          <a:prstGeom prst="rect">
            <a:avLst/>
          </a:prstGeom>
          <a:solidFill>
            <a:srgbClr val="A03020"/>
          </a:solidFill>
          <a:ln w="12700">
            <a:solidFill>
              <a:srgbClr val="A03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7216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00200" y="373989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UPI  ·  Offline QR fallback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187952"/>
            <a:ext cx="4114800" cy="457200"/>
          </a:xfrm>
          <a:prstGeom prst="rect">
            <a:avLst/>
          </a:prstGeom>
          <a:solidFill>
            <a:srgbClr val="2D1B0E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187952"/>
            <a:ext cx="54864" cy="457200"/>
          </a:xfrm>
          <a:prstGeom prst="rect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42519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600200" y="427024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 ·  S3 CDN  ·  Edge caching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1078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Differentiators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1536192"/>
            <a:ext cx="4114800" cy="758952"/>
          </a:xfrm>
          <a:prstGeom prst="rect">
            <a:avLst/>
          </a:prstGeom>
          <a:solidFill>
            <a:srgbClr val="2D1B0E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719072"/>
            <a:ext cx="347472" cy="347472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5349240" y="16276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Multilingual Voice NLP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349240" y="19385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Hindi + 8 regional languages, 92% accuracy for rural dialects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754880" y="2414016"/>
            <a:ext cx="4114800" cy="758952"/>
          </a:xfrm>
          <a:prstGeom prst="rect">
            <a:avLst/>
          </a:prstGeom>
          <a:solidFill>
            <a:srgbClr val="2D1B0E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596896"/>
            <a:ext cx="347472" cy="347472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349240" y="25054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Brand Generation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5349240" y="28163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Vision: brand name + logo from single photo in under 10 seconds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4754880" y="3291840"/>
            <a:ext cx="4114800" cy="758952"/>
          </a:xfrm>
          <a:prstGeom prst="rect">
            <a:avLst/>
          </a:prstGeom>
          <a:solidFill>
            <a:srgbClr val="2D1B0E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474720"/>
            <a:ext cx="347472" cy="347472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5349240" y="33832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Offline-First Architecture</a:t>
            </a:r>
            <a:endParaRPr lang="en-US" sz="1200" dirty="0"/>
          </a:p>
        </p:txBody>
      </p:sp>
      <p:sp>
        <p:nvSpPr>
          <p:cNvPr id="44" name="Text 39"/>
          <p:cNvSpPr/>
          <p:nvPr/>
        </p:nvSpPr>
        <p:spPr>
          <a:xfrm>
            <a:off x="5349240" y="36941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flows work on 2G; data syncs automatically when connection restores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4754880" y="4169664"/>
            <a:ext cx="4114800" cy="758952"/>
          </a:xfrm>
          <a:prstGeom prst="rect">
            <a:avLst/>
          </a:prstGeom>
          <a:solidFill>
            <a:srgbClr val="2D1B0E"/>
          </a:solidFill>
          <a:ln w="12700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4352544"/>
            <a:ext cx="347472" cy="347472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5349240" y="42611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Ultra-Lightweight APK</a:t>
            </a:r>
            <a:endParaRPr lang="en-US" sz="1200" dirty="0"/>
          </a:p>
        </p:txBody>
      </p:sp>
      <p:sp>
        <p:nvSpPr>
          <p:cNvPr id="48" name="Text 42"/>
          <p:cNvSpPr/>
          <p:nvPr/>
        </p:nvSpPr>
        <p:spPr>
          <a:xfrm>
            <a:off x="5349240" y="45720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₹5,000 Android devices; 12MB app size, no storage pressure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1B0E"/>
          </a:solidFill>
          <a:ln w="12700">
            <a:solidFill>
              <a:srgbClr val="2D1B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601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A020"/>
                </a:solidFill>
              </a:rPr>
              <a:t>SLIDE 05  ·  IMPLEMENTATION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97680" y="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Phases Over 12 Months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03920" y="4864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5 /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2788920" cy="3858768"/>
          </a:xfrm>
          <a:prstGeom prst="rect">
            <a:avLst/>
          </a:prstGeom>
          <a:solidFill>
            <a:srgbClr val="2D1B0E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78992"/>
            <a:ext cx="278892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188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A020"/>
                </a:solidFill>
              </a:rPr>
              <a:t>Phase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" y="14904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&amp; Pilot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84632" y="2029968"/>
            <a:ext cx="1554480" cy="274320"/>
          </a:xfrm>
          <a:prstGeom prst="rect">
            <a:avLst/>
          </a:prstGeom>
          <a:solidFill>
            <a:srgbClr val="E8A020">
              <a:alpha val="22000"/>
            </a:srgbClr>
          </a:solidFill>
          <a:ln w="12700">
            <a:solidFill>
              <a:srgbClr val="E8A020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0299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842"/>
                </a:solidFill>
              </a:rPr>
              <a:t>Month 1–4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" y="2505456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" y="242316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listing MVP (Hindi + 3 languages)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" y="2962656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" y="288036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brand name + basic logo generator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" y="3419856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333756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payment integration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" y="3877056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" y="379476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50 sellers in 2 villages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" y="4334256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" y="425196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APK v1.0 release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64408" y="1078992"/>
            <a:ext cx="2788920" cy="3858768"/>
          </a:xfrm>
          <a:prstGeom prst="rect">
            <a:avLst/>
          </a:prstGeom>
          <a:solidFill>
            <a:srgbClr val="2D1B0E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64408" y="1078992"/>
            <a:ext cx="2788920" cy="54864"/>
          </a:xfrm>
          <a:prstGeom prst="rect">
            <a:avLst/>
          </a:prstGeom>
          <a:solidFill>
            <a:srgbClr val="2A6080"/>
          </a:solidFill>
          <a:ln w="12700">
            <a:solidFill>
              <a:srgbClr val="2A6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1188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A6080"/>
                </a:solidFill>
              </a:rPr>
              <a:t>Phase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29000" y="14904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 &amp; Integrate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429000" y="2029968"/>
            <a:ext cx="1554480" cy="274320"/>
          </a:xfrm>
          <a:prstGeom prst="rect">
            <a:avLst/>
          </a:prstGeom>
          <a:solidFill>
            <a:srgbClr val="2A6080">
              <a:alpha val="22000"/>
            </a:srgbClr>
          </a:solidFill>
          <a:ln w="12700">
            <a:solidFill>
              <a:srgbClr val="2A6080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20299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842"/>
                </a:solidFill>
              </a:rPr>
              <a:t>Month 5–8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29000" y="2505456"/>
            <a:ext cx="164592" cy="164592"/>
          </a:xfrm>
          <a:prstGeom prst="ellipse">
            <a:avLst/>
          </a:prstGeom>
          <a:solidFill>
            <a:srgbClr val="2A6080"/>
          </a:solidFill>
          <a:ln w="12700">
            <a:solidFill>
              <a:srgbClr val="2A6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66744" y="242316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marketplace module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29000" y="2962656"/>
            <a:ext cx="164592" cy="164592"/>
          </a:xfrm>
          <a:prstGeom prst="ellipse">
            <a:avLst/>
          </a:prstGeom>
          <a:solidFill>
            <a:srgbClr val="2A6080"/>
          </a:solidFill>
          <a:ln w="12700">
            <a:solidFill>
              <a:srgbClr val="2A6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66744" y="288036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agent network &amp; GPS routing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29000" y="3419856"/>
            <a:ext cx="164592" cy="164592"/>
          </a:xfrm>
          <a:prstGeom prst="ellipse">
            <a:avLst/>
          </a:prstGeom>
          <a:solidFill>
            <a:srgbClr val="2A6080"/>
          </a:solidFill>
          <a:ln w="12700">
            <a:solidFill>
              <a:srgbClr val="2A6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66744" y="333756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 AI model v1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29000" y="3877056"/>
            <a:ext cx="164592" cy="164592"/>
          </a:xfrm>
          <a:prstGeom prst="ellipse">
            <a:avLst/>
          </a:prstGeom>
          <a:solidFill>
            <a:srgbClr val="2A6080"/>
          </a:solidFill>
          <a:ln w="12700">
            <a:solidFill>
              <a:srgbClr val="2A60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66744" y="379476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+ social post generator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429000" y="4334256"/>
            <a:ext cx="164592" cy="164592"/>
          </a:xfrm>
          <a:prstGeom prst="ellipse">
            <a:avLst/>
          </a:prstGeom>
          <a:solidFill>
            <a:srgbClr val="2A6080"/>
          </a:solidFill>
          <a:ln w="12700">
            <a:solidFill>
              <a:srgbClr val="2A60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66744" y="425196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10 villages / 500 sellers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08776" y="1078992"/>
            <a:ext cx="2788920" cy="3858768"/>
          </a:xfrm>
          <a:prstGeom prst="rect">
            <a:avLst/>
          </a:prstGeom>
          <a:solidFill>
            <a:srgbClr val="2D1B0E"/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08776" y="1078992"/>
            <a:ext cx="2788920" cy="54864"/>
          </a:xfrm>
          <a:prstGeom prst="rect">
            <a:avLst/>
          </a:prstGeom>
          <a:solidFill>
            <a:srgbClr val="4E8040"/>
          </a:solidFill>
          <a:ln w="12700">
            <a:solidFill>
              <a:srgbClr val="4E80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73368" y="1188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E8040"/>
                </a:solidFill>
              </a:rPr>
              <a:t>Phase 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73368" y="14904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&amp; Sustain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6373368" y="2029968"/>
            <a:ext cx="1554480" cy="274320"/>
          </a:xfrm>
          <a:prstGeom prst="rect">
            <a:avLst/>
          </a:prstGeom>
          <a:solidFill>
            <a:srgbClr val="4E8040">
              <a:alpha val="22000"/>
            </a:srgbClr>
          </a:solidFill>
          <a:ln w="12700">
            <a:solidFill>
              <a:srgbClr val="4E8040">
                <a:alpha val="4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73368" y="20299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842"/>
                </a:solidFill>
              </a:rPr>
              <a:t>Month 9–12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73368" y="2505456"/>
            <a:ext cx="164592" cy="164592"/>
          </a:xfrm>
          <a:prstGeom prst="ellipse">
            <a:avLst/>
          </a:prstGeom>
          <a:solidFill>
            <a:srgbClr val="4E8040"/>
          </a:solidFill>
          <a:ln w="12700">
            <a:solidFill>
              <a:srgbClr val="4E8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11112" y="242316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5-module platform live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373368" y="2962656"/>
            <a:ext cx="164592" cy="164592"/>
          </a:xfrm>
          <a:prstGeom prst="ellipse">
            <a:avLst/>
          </a:prstGeom>
          <a:solidFill>
            <a:srgbClr val="4E8040"/>
          </a:solidFill>
          <a:ln w="12700">
            <a:solidFill>
              <a:srgbClr val="4E80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11112" y="288036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8-language multilingual support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373368" y="3419856"/>
            <a:ext cx="164592" cy="164592"/>
          </a:xfrm>
          <a:prstGeom prst="ellipse">
            <a:avLst/>
          </a:prstGeom>
          <a:solidFill>
            <a:srgbClr val="4E8040"/>
          </a:solidFill>
          <a:ln w="12700">
            <a:solidFill>
              <a:srgbClr val="4E8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11112" y="333756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 sellers across 3 states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373368" y="3877056"/>
            <a:ext cx="164592" cy="164592"/>
          </a:xfrm>
          <a:prstGeom prst="ellipse">
            <a:avLst/>
          </a:prstGeom>
          <a:solidFill>
            <a:srgbClr val="4E8040"/>
          </a:solidFill>
          <a:ln w="12700">
            <a:solidFill>
              <a:srgbClr val="4E80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11112" y="379476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bulk buyer partnerships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373368" y="4334256"/>
            <a:ext cx="164592" cy="164592"/>
          </a:xfrm>
          <a:prstGeom prst="ellipse">
            <a:avLst/>
          </a:prstGeom>
          <a:solidFill>
            <a:srgbClr val="4E8040"/>
          </a:solidFill>
          <a:ln w="12700">
            <a:solidFill>
              <a:srgbClr val="4E804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11112" y="425196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&amp; government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1B0E"/>
          </a:solidFill>
          <a:ln w="12700">
            <a:solidFill>
              <a:srgbClr val="2D1B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60120"/>
          </a:xfrm>
          <a:prstGeom prst="rect">
            <a:avLst/>
          </a:prstGeom>
          <a:solidFill>
            <a:srgbClr val="A03020"/>
          </a:solidFill>
          <a:ln w="12700">
            <a:solidFill>
              <a:srgbClr val="A03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03020"/>
                </a:solidFill>
              </a:rPr>
              <a:t>SLIDE 06  ·  FEASIBILITY &amp; IMPACT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97680" y="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Numbers That Prove It Works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03920" y="4864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6 /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2029968" cy="1261872"/>
          </a:xfrm>
          <a:prstGeom prst="rect">
            <a:avLst/>
          </a:prstGeom>
          <a:solidFill>
            <a:srgbClr val="2D1B0E"/>
          </a:solidFill>
          <a:ln w="12700">
            <a:solidFill>
              <a:srgbClr val="E8A020">
                <a:alpha val="3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78992"/>
            <a:ext cx="2029968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52144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0040" y="1810512"/>
            <a:ext cx="202996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selling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with AI branding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96312" y="1078992"/>
            <a:ext cx="2029968" cy="1261872"/>
          </a:xfrm>
          <a:prstGeom prst="rect">
            <a:avLst/>
          </a:prstGeom>
          <a:solidFill>
            <a:srgbClr val="2D1B0E"/>
          </a:solidFill>
          <a:ln w="12700">
            <a:solidFill>
              <a:srgbClr val="4E8040">
                <a:alpha val="3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96312" y="1078992"/>
            <a:ext cx="2029968" cy="45720"/>
          </a:xfrm>
          <a:prstGeom prst="rect">
            <a:avLst/>
          </a:prstGeom>
          <a:solidFill>
            <a:srgbClr val="4E8040"/>
          </a:solidFill>
          <a:ln w="12700">
            <a:solidFill>
              <a:srgbClr val="4E8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152144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1M+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496312" y="1810512"/>
            <a:ext cx="202996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delivery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by Year 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72584" y="1078992"/>
            <a:ext cx="2029968" cy="1261872"/>
          </a:xfrm>
          <a:prstGeom prst="rect">
            <a:avLst/>
          </a:prstGeom>
          <a:solidFill>
            <a:srgbClr val="2D1B0E"/>
          </a:solidFill>
          <a:ln w="12700">
            <a:solidFill>
              <a:srgbClr val="2A6080">
                <a:alpha val="3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2584" y="1078992"/>
            <a:ext cx="2029968" cy="45720"/>
          </a:xfrm>
          <a:prstGeom prst="rect">
            <a:avLst/>
          </a:prstGeom>
          <a:solidFill>
            <a:srgbClr val="2A6080"/>
          </a:solidFill>
          <a:ln w="12700">
            <a:solidFill>
              <a:srgbClr val="2A6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1152144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₹850Cr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672584" y="1810512"/>
            <a:ext cx="202996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market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(Year 3 target)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48856" y="1078992"/>
            <a:ext cx="2029968" cy="1261872"/>
          </a:xfrm>
          <a:prstGeom prst="rect">
            <a:avLst/>
          </a:prstGeom>
          <a:solidFill>
            <a:srgbClr val="2D1B0E"/>
          </a:solidFill>
          <a:ln w="12700">
            <a:solidFill>
              <a:srgbClr val="A03020">
                <a:alpha val="3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48856" y="1078992"/>
            <a:ext cx="2029968" cy="45720"/>
          </a:xfrm>
          <a:prstGeom prst="rect">
            <a:avLst/>
          </a:prstGeom>
          <a:solidFill>
            <a:srgbClr val="A03020"/>
          </a:solidFill>
          <a:ln w="12700">
            <a:solidFill>
              <a:srgbClr val="A03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48856" y="1152144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848856" y="1810512"/>
            <a:ext cx="202996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NLP accuracy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rural dialect tests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252374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 Evidence</a:t>
            </a:r>
            <a:endParaRPr lang="en-US" sz="13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962656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94360" y="29260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rural smartphone penetration &amp; growing rapidly</a:t>
            </a:r>
            <a:endParaRPr lang="en-US" sz="11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346704"/>
            <a:ext cx="201168" cy="20116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94360" y="331012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works offline via SMS — no internet needed for payments</a:t>
            </a:r>
            <a:endParaRPr lang="en-US" sz="11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730752"/>
            <a:ext cx="201168" cy="20116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94360" y="369417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enables low-spec Android devices (₹5,000 phones)</a:t>
            </a:r>
            <a:endParaRPr lang="en-US" sz="11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114800"/>
            <a:ext cx="201168" cy="20116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94360" y="407822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India mission provides infra &amp; subsidy support</a:t>
            </a:r>
            <a:endParaRPr lang="en-US" sz="11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4498848"/>
            <a:ext cx="201168" cy="20116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94360" y="446227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test: 9/10 farmers listed a product in under 2 minutes</a:t>
            </a:r>
            <a:endParaRPr lang="en-US" sz="11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4709160" y="2423160"/>
          <a:ext cx="4160520" cy="24871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E8A020">
              <a:alpha val="8000"/>
            </a:srgbClr>
          </a:solidFill>
          <a:ln w="12700">
            <a:solidFill>
              <a:srgbClr val="E8A020">
                <a:alpha val="2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3474720" cy="3474720"/>
          </a:xfrm>
          <a:prstGeom prst="ellipse">
            <a:avLst/>
          </a:prstGeom>
          <a:solidFill>
            <a:srgbClr val="4E8040">
              <a:alpha val="10000"/>
            </a:srgbClr>
          </a:solidFill>
          <a:ln w="12700">
            <a:solidFill>
              <a:srgbClr val="4E804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D1B0E"/>
          </a:solidFill>
          <a:ln w="12700">
            <a:solidFill>
              <a:srgbClr val="2D1B0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56032" cy="8046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A020"/>
                </a:solidFill>
              </a:rPr>
              <a:t>SLIDE 07  ·  CONCLUSION &amp; LEARNING OUTCOMES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932688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GramVoice isn't just an app.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142646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 bridge between the village and the market.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7472" y="1993392"/>
            <a:ext cx="4005072" cy="2880360"/>
          </a:xfrm>
          <a:prstGeom prst="rect">
            <a:avLst/>
          </a:prstGeom>
          <a:solidFill>
            <a:srgbClr val="2D1B0E"/>
          </a:solidFill>
          <a:ln w="12700">
            <a:solidFill>
              <a:srgbClr val="E8A020">
                <a:alpha val="32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" y="2103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5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578608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8096" y="2542032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AI + Delivery closes all 4 rural commerce gaps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2999232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8096" y="2962656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by non-literate, non-tech users — by design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419856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8096" y="3383280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income for sellers, delivery youth &amp; artisans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840480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8096" y="3803904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200,000+ sellers via cloud architecture</a:t>
            </a:r>
            <a:endParaRPr lang="en-US" sz="1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4261104"/>
            <a:ext cx="182880" cy="1828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68096" y="4224528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3% commission + brand builder subscription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4773168" y="1993392"/>
            <a:ext cx="4005072" cy="2880360"/>
          </a:xfrm>
          <a:prstGeom prst="rect">
            <a:avLst/>
          </a:prstGeom>
          <a:solidFill>
            <a:srgbClr val="2D1B0E"/>
          </a:solidFill>
          <a:ln w="12700">
            <a:solidFill>
              <a:srgbClr val="4E8040">
                <a:alpha val="3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4937760" y="2103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Outcomes</a:t>
            </a:r>
            <a:endParaRPr lang="en-US" sz="15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578608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193792" y="2542032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Empathy-led design: listen to users, don't assume</a:t>
            </a:r>
            <a:endParaRPr lang="en-US" sz="11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999232"/>
            <a:ext cx="182880" cy="1828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193792" y="2962656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only powerful when built around real access needs</a:t>
            </a:r>
            <a:endParaRPr lang="en-US" sz="11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419856"/>
            <a:ext cx="182880" cy="18288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193792" y="3383280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thinking is essential for Bharat-scale</a:t>
            </a:r>
            <a:endParaRPr lang="en-US" sz="11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3840480"/>
            <a:ext cx="182880" cy="18288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193792" y="3803904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Multi-stakeholder ecosystems (sellers + delivery + buyers) win</a:t>
            </a:r>
            <a:endParaRPr lang="en-US" sz="11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4261104"/>
            <a:ext cx="182880" cy="18288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193792" y="4224528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A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interface can unlock economic inclusion at scale</a:t>
            </a:r>
            <a:endParaRPr lang="en-US" sz="1100" dirty="0"/>
          </a:p>
        </p:txBody>
      </p:sp>
      <p:sp>
        <p:nvSpPr>
          <p:cNvPr id="33" name="Text 21"/>
          <p:cNvSpPr/>
          <p:nvPr/>
        </p:nvSpPr>
        <p:spPr>
          <a:xfrm>
            <a:off x="8503920" y="4864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GramVoice — AI+Voice Rural Business Platform</dc:title>
  <dc:subject>PptxGenJS Presentation</dc:subject>
  <dc:creator>PptxGenJS</dc:creator>
  <cp:lastModifiedBy>PptxGenJS</cp:lastModifiedBy>
  <cp:revision>1</cp:revision>
  <dcterms:created xsi:type="dcterms:W3CDTF">2026-03-12T06:32:16Z</dcterms:created>
  <dcterms:modified xsi:type="dcterms:W3CDTF">2026-03-12T06:32:16Z</dcterms:modified>
</cp:coreProperties>
</file>